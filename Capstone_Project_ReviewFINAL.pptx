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0" r:id="rId2"/>
    <p:sldId id="272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80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4892" y="365442"/>
            <a:ext cx="1937385" cy="448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09625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991224"/>
            <a:ext cx="12191999" cy="8667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375" y="34861"/>
            <a:ext cx="6050915" cy="779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2175" y="1311528"/>
            <a:ext cx="1015111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Multilingual Chatbot for PGRKAM Platform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CSE_37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</a:t>
            </a:r>
            <a:r>
              <a:rPr 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</a:t>
            </a:r>
            <a:r>
              <a:rPr lang="en-US" alt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Tintu Vijayan 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custDataLst>
              <p:tags r:id="rId1"/>
            </p:custDataLst>
          </p:nvPr>
        </p:nvGraphicFramePr>
        <p:xfrm>
          <a:off x="553085" y="2721610"/>
          <a:ext cx="5418455" cy="329190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 u="none" strike="noStrike" cap="none" dirty="0">
                          <a:solidFill>
                            <a:srgbClr val="17365D"/>
                          </a:solidFill>
                        </a:rPr>
                        <a:t>        </a:t>
                      </a: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    20221CSE0355                  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ym typeface="+mn-ea"/>
                        </a:rPr>
                        <a:t>PRAJWAL 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20221CSE0457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SRUJAN S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20221CSE0458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SHREE SAI PAVAN 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B.TECH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Dr. Asif Mohammed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Dr.Jayavadivel Ravi &amp; Mr.Muthuraju V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Dr.Samapth A K &amp; Dr.Geetha Arjunan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28320" y="510540"/>
            <a:ext cx="4064000" cy="3067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1466215"/>
            <a:ext cx="10668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b="1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72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7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spc="95" dirty="0"/>
              <a:t> </a:t>
            </a:r>
            <a:r>
              <a:rPr spc="-10" dirty="0"/>
              <a:t>Statement: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7117" y="1676717"/>
            <a:ext cx="9911715" cy="352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latin typeface="Cambria" panose="02040503050406030204"/>
                <a:cs typeface="Cambria" panose="02040503050406030204"/>
              </a:rPr>
              <a:t>Category: Software</a:t>
            </a: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endParaRPr lang="en-US" altLang="en-US" sz="2000">
              <a:latin typeface="Cambria" panose="02040503050406030204"/>
              <a:cs typeface="Cambria" panose="02040503050406030204"/>
            </a:endParaRP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latin typeface="Cambria" panose="02040503050406030204"/>
                <a:cs typeface="Cambria" panose="02040503050406030204"/>
              </a:rPr>
              <a:t>Job seekers on the PGRKAM portal face challenges navigating large, text-heavy pages.</a:t>
            </a: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endParaRPr lang="en-US" altLang="en-US" sz="2000">
              <a:latin typeface="Cambria" panose="02040503050406030204"/>
              <a:cs typeface="Cambria" panose="02040503050406030204"/>
            </a:endParaRP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latin typeface="Cambria" panose="02040503050406030204"/>
                <a:cs typeface="Cambria" panose="02040503050406030204"/>
              </a:rPr>
              <a:t>Limited accessibility for rural, non-English-speaking users.</a:t>
            </a: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endParaRPr lang="en-US" altLang="en-US" sz="2000">
              <a:latin typeface="Cambria" panose="02040503050406030204"/>
              <a:cs typeface="Cambria" panose="02040503050406030204"/>
            </a:endParaRP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latin typeface="Cambria" panose="02040503050406030204"/>
                <a:cs typeface="Cambria" panose="02040503050406030204"/>
              </a:rPr>
              <a:t>Lack of personalized guidance and interactive assistance.</a:t>
            </a: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endParaRPr lang="en-US" altLang="en-US" sz="2000">
              <a:latin typeface="Cambria" panose="02040503050406030204"/>
              <a:cs typeface="Cambria" panose="02040503050406030204"/>
            </a:endParaRP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latin typeface="Cambria" panose="02040503050406030204"/>
                <a:cs typeface="Cambria" panose="02040503050406030204"/>
              </a:rPr>
              <a:t>Absence of multilingual support and inclusivity.</a:t>
            </a: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endParaRPr lang="en-US" altLang="en-US" sz="2000">
              <a:latin typeface="Cambria" panose="02040503050406030204"/>
              <a:cs typeface="Cambria" panose="02040503050406030204"/>
            </a:endParaRPr>
          </a:p>
          <a:p>
            <a:pPr marL="60325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>
                <a:latin typeface="Cambria" panose="02040503050406030204"/>
                <a:cs typeface="Cambria" panose="02040503050406030204"/>
              </a:rPr>
              <a:t>Inefficient navigation and long search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212" y="1644332"/>
            <a:ext cx="10397490" cy="28848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Develop a multilingual chatbot supporting Punjabi, Hindi, and English.</a:t>
            </a: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endParaRPr lang="en-US" altLang="en-US" sz="2000" dirty="0">
              <a:latin typeface="Cambria" panose="02040503050406030204"/>
              <a:cs typeface="Cambria" panose="02040503050406030204"/>
            </a:endParaRP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Integrate LLMs with translation frameworks for contextual accuracy.</a:t>
            </a: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endParaRPr lang="en-US" altLang="en-US" sz="2000" dirty="0">
              <a:latin typeface="Cambria" panose="02040503050406030204"/>
              <a:cs typeface="Cambria" panose="02040503050406030204"/>
            </a:endParaRP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Provide accessibility support (screen reader, audio output).</a:t>
            </a: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endParaRPr lang="en-US" altLang="en-US" sz="2000" dirty="0">
              <a:latin typeface="Cambria" panose="02040503050406030204"/>
              <a:cs typeface="Cambria" panose="02040503050406030204"/>
            </a:endParaRP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Evaluate user satisfaction, accuracy, and efficiency improvements.</a:t>
            </a: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endParaRPr lang="en-US" altLang="en-US" sz="2000" dirty="0">
              <a:latin typeface="Cambria" panose="02040503050406030204"/>
              <a:cs typeface="Cambria" panose="02040503050406030204"/>
            </a:endParaRPr>
          </a:p>
          <a:p>
            <a:pPr marL="393700" marR="5080" indent="-333375">
              <a:lnSpc>
                <a:spcPct val="102000"/>
              </a:lnSpc>
              <a:spcBef>
                <a:spcPts val="55"/>
              </a:spcBef>
              <a:buSzPct val="94000"/>
              <a:buChar char="•"/>
              <a:tabLst>
                <a:tab pos="393700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Ensure scalability for additional languages and AI-based enhancements.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Background</a:t>
            </a:r>
            <a:r>
              <a:rPr spc="130" dirty="0"/>
              <a:t> </a:t>
            </a:r>
            <a:r>
              <a:rPr dirty="0"/>
              <a:t>and</a:t>
            </a:r>
            <a:r>
              <a:rPr spc="130" dirty="0"/>
              <a:t> </a:t>
            </a:r>
            <a:r>
              <a:rPr dirty="0"/>
              <a:t>Related</a:t>
            </a:r>
            <a:r>
              <a:rPr spc="13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330" y="1644332"/>
            <a:ext cx="10386060" cy="3205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Existing government job portals lack real-time, personalized assistance.</a:t>
            </a:r>
          </a:p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endParaRPr lang="en-US" altLang="en-US" sz="2000" dirty="0">
              <a:latin typeface="Cambria" panose="02040503050406030204"/>
              <a:cs typeface="Cambria" panose="02040503050406030204"/>
            </a:endParaRPr>
          </a:p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AI chatbots (Galadima et al., 2024) improve accessibility with multilingual features.</a:t>
            </a:r>
          </a:p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endParaRPr lang="en-US" altLang="en-US" sz="2000" dirty="0">
              <a:latin typeface="Cambria" panose="02040503050406030204"/>
              <a:cs typeface="Cambria" panose="02040503050406030204"/>
            </a:endParaRPr>
          </a:p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Responsible AI (Liu &amp; Fu, 2024) highlights the need for ethical, bias-free design.</a:t>
            </a:r>
          </a:p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endParaRPr lang="en-US" altLang="en-US" sz="2000" dirty="0">
              <a:latin typeface="Cambria" panose="02040503050406030204"/>
              <a:cs typeface="Cambria" panose="02040503050406030204"/>
            </a:endParaRPr>
          </a:p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LLMs face challenges in low-resource languages (Lai et al., 2023), requiring fallback translation.</a:t>
            </a:r>
          </a:p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r>
              <a:rPr lang="en-US" altLang="en-US" sz="2000" dirty="0">
                <a:latin typeface="Cambria" panose="02040503050406030204"/>
                <a:cs typeface="Cambria" panose="02040503050406030204"/>
              </a:rPr>
              <a:t>Our project integrates multilingual LLMs, translation APIs, and accessibility tools to overcome these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45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25"/>
              </a:spcBef>
            </a:pPr>
            <a:r>
              <a:rPr dirty="0"/>
              <a:t>Technology</a:t>
            </a:r>
            <a:r>
              <a:rPr spc="145" dirty="0"/>
              <a:t> </a:t>
            </a:r>
            <a:r>
              <a:rPr dirty="0"/>
              <a:t>Stack</a:t>
            </a:r>
            <a:r>
              <a:rPr spc="130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1752600"/>
            <a:ext cx="8937625" cy="77470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en-US" sz="2400" dirty="0">
                <a:solidFill>
                  <a:srgbClr val="0070C0"/>
                </a:solidFill>
                <a:latin typeface="Arial MT"/>
                <a:cs typeface="Arial MT"/>
              </a:rPr>
              <a:t>https://github.com/prajwal37-a/Smart-Multilingual-Chatbot-for-PGRKAM-Platform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45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spc="90" dirty="0"/>
              <a:t> </a:t>
            </a:r>
            <a:r>
              <a:rPr spc="-10" dirty="0"/>
              <a:t>Statem</a:t>
            </a:r>
            <a:r>
              <a:rPr lang="en-US" spc="-10" dirty="0"/>
              <a:t>ents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600200"/>
            <a:ext cx="11887200" cy="2166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en-US" sz="2000" b="0" dirty="0">
                <a:latin typeface="Cambria" panose="02040503050406030204"/>
                <a:cs typeface="Cambria" panose="02040503050406030204"/>
              </a:rPr>
              <a:t>Limited accessibility for rural/non-English users.</a:t>
            </a:r>
          </a:p>
          <a:p>
            <a:endParaRPr lang="en-US" altLang="en-US" sz="2000" b="0" dirty="0">
              <a:latin typeface="Cambria" panose="02040503050406030204"/>
              <a:cs typeface="Cambria" panose="02040503050406030204"/>
            </a:endParaRPr>
          </a:p>
          <a:p>
            <a:r>
              <a:rPr lang="en-US" altLang="en-US" sz="2000" b="0" dirty="0">
                <a:latin typeface="Cambria" panose="02040503050406030204"/>
                <a:cs typeface="Cambria" panose="02040503050406030204"/>
              </a:rPr>
              <a:t>Lack of real-time, guided navigation in portals.</a:t>
            </a:r>
          </a:p>
          <a:p>
            <a:endParaRPr lang="en-US" altLang="en-US" sz="2000" b="0" dirty="0">
              <a:latin typeface="Cambria" panose="02040503050406030204"/>
              <a:cs typeface="Cambria" panose="02040503050406030204"/>
            </a:endParaRPr>
          </a:p>
          <a:p>
            <a:r>
              <a:rPr lang="en-US" altLang="en-US" sz="2000" b="0" dirty="0">
                <a:latin typeface="Cambria" panose="02040503050406030204"/>
                <a:cs typeface="Cambria" panose="02040503050406030204"/>
              </a:rPr>
              <a:t>Time-consuming manual search process.</a:t>
            </a:r>
          </a:p>
          <a:p>
            <a:endParaRPr lang="en-US" altLang="en-US" sz="2000" b="0" dirty="0">
              <a:latin typeface="Cambria" panose="02040503050406030204"/>
              <a:cs typeface="Cambria" panose="02040503050406030204"/>
            </a:endParaRPr>
          </a:p>
          <a:p>
            <a:r>
              <a:rPr lang="en-US" altLang="en-US" sz="2000" b="0" dirty="0">
                <a:latin typeface="Cambria" panose="02040503050406030204"/>
                <a:cs typeface="Cambria" panose="02040503050406030204"/>
              </a:rPr>
              <a:t>Limited personalization and inclusivity in existing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Proposed</a:t>
            </a:r>
            <a:r>
              <a:rPr spc="22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11277600" cy="2290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r>
              <a:rPr lang="en-US" altLang="en-US" sz="1550" dirty="0">
                <a:latin typeface="Cambria" panose="02040503050406030204"/>
                <a:cs typeface="Cambria" panose="02040503050406030204"/>
              </a:rPr>
              <a:t>User Dashboard: Multilingual chatbot panel for Punjabi, Hindi, English.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endParaRPr lang="en-US" altLang="en-US" sz="1550" dirty="0">
              <a:latin typeface="Cambria" panose="02040503050406030204"/>
              <a:cs typeface="Cambria" panose="0204050305040603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r>
              <a:rPr lang="en-US" altLang="en-US" sz="1550" dirty="0">
                <a:latin typeface="Cambria" panose="02040503050406030204"/>
                <a:cs typeface="Cambria" panose="02040503050406030204"/>
              </a:rPr>
              <a:t>Admin Dashboard: Usage analytics, logs for query-response evaluation.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endParaRPr lang="en-US" altLang="en-US" sz="1550" dirty="0">
              <a:latin typeface="Cambria" panose="02040503050406030204"/>
              <a:cs typeface="Cambria" panose="0204050305040603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r>
              <a:rPr lang="en-US" altLang="en-US" sz="1550" dirty="0">
                <a:latin typeface="Cambria" panose="02040503050406030204"/>
                <a:cs typeface="Cambria" panose="02040503050406030204"/>
              </a:rPr>
              <a:t>Role-Based Authentication: Separate user/admin privileges.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endParaRPr lang="en-US" altLang="en-US" sz="1550" dirty="0">
              <a:latin typeface="Cambria" panose="02040503050406030204"/>
              <a:cs typeface="Cambria" panose="0204050305040603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r>
              <a:rPr lang="en-US" altLang="en-US" sz="1550" dirty="0">
                <a:latin typeface="Cambria" panose="02040503050406030204"/>
                <a:cs typeface="Cambria" panose="02040503050406030204"/>
              </a:rPr>
              <a:t>Accessibility Features: Screen reader, audio outputs for inclusivity.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endParaRPr lang="en-US" altLang="en-US" sz="1550" dirty="0">
              <a:latin typeface="Cambria" panose="02040503050406030204"/>
              <a:cs typeface="Cambria" panose="0204050305040603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342900" algn="l"/>
              </a:tabLst>
            </a:pPr>
            <a:r>
              <a:rPr lang="en-US" altLang="en-US" sz="1550" dirty="0">
                <a:latin typeface="Cambria" panose="02040503050406030204"/>
                <a:cs typeface="Cambria" panose="02040503050406030204"/>
              </a:rPr>
              <a:t>Workflow: Query → Translation/Processing → Response Generation → Contextual Reply.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Arial" panose="020B0604020202020204"/>
                <a:cs typeface="Arial" panose="020B0604020202020204"/>
              </a:rPr>
              <a:t>Innovation</a:t>
            </a:r>
            <a:r>
              <a:rPr sz="2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or</a:t>
            </a:r>
            <a:r>
              <a:rPr sz="26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Novel</a:t>
            </a:r>
            <a:r>
              <a:rPr sz="26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latin typeface="Arial" panose="020B0604020202020204"/>
                <a:cs typeface="Arial" panose="020B0604020202020204"/>
              </a:rPr>
              <a:t>Contributions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9175" y="1423670"/>
            <a:ext cx="9334500" cy="2914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Multilingual chatbot tailored for PGRKAM job seekers.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Combines LLMs with translation APIs for contextual accuracy.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Accessibility features for inclusivity (screen reader, audio).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Personalized job recommendations from interaction history.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Extensible to more Indian languages and AI-driven personalization.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Timeline</a:t>
            </a:r>
            <a:r>
              <a:rPr spc="95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Project</a:t>
            </a:r>
            <a:r>
              <a:rPr spc="95" dirty="0"/>
              <a:t> </a:t>
            </a:r>
            <a:r>
              <a:rPr dirty="0"/>
              <a:t>(Gantt</a:t>
            </a:r>
            <a:r>
              <a:rPr spc="100" dirty="0"/>
              <a:t> </a:t>
            </a:r>
            <a:r>
              <a:rPr spc="-10" dirty="0"/>
              <a:t>Chart)</a:t>
            </a:r>
          </a:p>
        </p:txBody>
      </p:sp>
      <p:pic>
        <p:nvPicPr>
          <p:cNvPr id="4" name="Picture 3" descr="Smart_Multilingual_Chatbot_Time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858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066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Verdana" panose="020B0604030504040204"/>
                <a:cs typeface="Verdana" panose="020B0604030504040204"/>
              </a:rPr>
              <a:t>Future</a:t>
            </a:r>
            <a:r>
              <a:rPr spc="150" dirty="0">
                <a:latin typeface="Verdana" panose="020B0604030504040204"/>
                <a:cs typeface="Verdana" panose="020B0604030504040204"/>
              </a:rPr>
              <a:t> </a:t>
            </a:r>
            <a:r>
              <a:rPr spc="-20" dirty="0">
                <a:latin typeface="Verdana" panose="020B0604030504040204"/>
                <a:cs typeface="Verdana" panose="020B0604030504040204"/>
              </a:rPr>
              <a:t>Plans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175" y="1215707"/>
            <a:ext cx="6681470" cy="3837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Add voice-based interactions for rural accessibility.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Expand chatbot to additional Indian languages.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Develop a mobile app for wider reach.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AI-driven job recommendations &amp; personalization.</a:t>
            </a: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endParaRPr lang="en-US" altLang="en-US" sz="2000">
              <a:latin typeface="Verdana" panose="020B0604030504040204"/>
              <a:cs typeface="Verdana" panose="020B0604030504040204"/>
            </a:endParaRPr>
          </a:p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lang="en-US" altLang="en-US" sz="2000">
                <a:latin typeface="Verdana" panose="020B0604030504040204"/>
                <a:cs typeface="Verdana" panose="020B0604030504040204"/>
              </a:rPr>
              <a:t>Integrate knowledge graphs for context-aware responses.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</a:t>
            </a:r>
            <a:r>
              <a:rPr spc="130" dirty="0"/>
              <a:t> </a:t>
            </a:r>
            <a:r>
              <a:rPr dirty="0"/>
              <a:t>(IEEE</a:t>
            </a:r>
            <a:r>
              <a:rPr spc="105" dirty="0"/>
              <a:t> </a:t>
            </a:r>
            <a:r>
              <a:rPr dirty="0"/>
              <a:t>Paper</a:t>
            </a:r>
            <a:r>
              <a:rPr spc="5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10151110" cy="4582795"/>
          </a:xfrm>
          <a:prstGeom prst="rect">
            <a:avLst/>
          </a:prstGeom>
        </p:spPr>
        <p:txBody>
          <a:bodyPr vert="horz" wrap="square" lIns="0" tIns="27305" rIns="0" bIns="0" rtlCol="0">
            <a:noAutofit/>
          </a:bodyPr>
          <a:lstStyle/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[1] Tuan, N. T., Moore, P., Thanh, D. H. V., &amp; Pham, H. V. (2024). A Generative Artificial Intelligence Using Multilingual Large Language Models for ChatGPT Applications. Applied Sciences, 14(7).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 </a:t>
            </a:r>
            <a:r>
              <a:rPr lang="en-US" altLang="en-US" spc="-10" dirty="0">
                <a:solidFill>
                  <a:srgbClr val="0070C0"/>
                </a:solidFill>
              </a:rPr>
              <a:t>https://doi.org/10.3390/app14073036</a:t>
            </a:r>
          </a:p>
          <a:p>
            <a:pPr marL="12700" marR="5080" indent="265430">
              <a:lnSpc>
                <a:spcPts val="1730"/>
              </a:lnSpc>
              <a:spcBef>
                <a:spcPts val="215"/>
              </a:spcBef>
              <a:buAutoNum type="arabicPlain"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[2] Liu, J., &amp; Fu, B. (2024). Responsible Multilingual Large Language Models: A Survey. arXiv.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 </a:t>
            </a:r>
            <a:r>
              <a:rPr lang="en-US" altLang="en-US" spc="-10" dirty="0">
                <a:solidFill>
                  <a:srgbClr val="0070C0"/>
                </a:solidFill>
              </a:rPr>
              <a:t>https://arxiv.org/abs/2410.17532</a:t>
            </a:r>
          </a:p>
          <a:p>
            <a:pPr marL="12700" marR="5080" indent="265430">
              <a:lnSpc>
                <a:spcPts val="1730"/>
              </a:lnSpc>
              <a:spcBef>
                <a:spcPts val="215"/>
              </a:spcBef>
              <a:buAutoNum type="arabicPlain"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[3] Lai, V. D., Ngo, N. T., Veyseh, A. P. B., Man, H., Dernoncourt, F., Bui, T., &amp; Nguyen, T. H. (2023). ChatGPT Beyond English: Towards a Comprehensive Evaluation of LLMs in Multilingual Learning. EMNLP 2023. 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>
                <a:solidFill>
                  <a:srgbClr val="0070C0"/>
                </a:solidFill>
              </a:rPr>
              <a:t>https://doi.org/10.18653/v1/2023.findings-emnlp.878</a:t>
            </a:r>
          </a:p>
          <a:p>
            <a:pPr marL="12700" marR="5080" indent="265430">
              <a:lnSpc>
                <a:spcPts val="1730"/>
              </a:lnSpc>
              <a:spcBef>
                <a:spcPts val="215"/>
              </a:spcBef>
              <a:buAutoNum type="arabicPlain"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[4] Galadima, K. R., Nkurikiyeyezu, K., &amp; Emmanuel, L. (2024). A Multi-Lingual Conversational AI Chatbot for Effective Educational Consultations. International Journal of Emerging Multidisciplinary Computer Science and AI, 3(1), 1-9.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>
                <a:solidFill>
                  <a:srgbClr val="0070C0"/>
                </a:solidFill>
              </a:rPr>
              <a:t>https://ojs.ijemd.com/index.php/ComputerScienceAI/article/view/312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</a:t>
            </a:r>
            <a:r>
              <a:rPr spc="130" dirty="0"/>
              <a:t> </a:t>
            </a:r>
            <a:r>
              <a:rPr dirty="0"/>
              <a:t>(IEEE</a:t>
            </a:r>
            <a:r>
              <a:rPr spc="105" dirty="0"/>
              <a:t> </a:t>
            </a:r>
            <a:r>
              <a:rPr dirty="0"/>
              <a:t>Paper</a:t>
            </a:r>
            <a:r>
              <a:rPr spc="5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92175" y="1450340"/>
            <a:ext cx="10461625" cy="4430395"/>
          </a:xfrm>
          <a:prstGeom prst="rect">
            <a:avLst/>
          </a:prstGeom>
        </p:spPr>
        <p:txBody>
          <a:bodyPr vert="horz" wrap="square" lIns="0" tIns="27305" rIns="0" bIns="0" rtlCol="0">
            <a:noAutofit/>
          </a:bodyPr>
          <a:lstStyle/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[5] Paswan, D. K., &amp; Dadhich, Y. (2025). ChatSense: A Multilingual AI Assistant Leveraging Pre-Trained LLMs and Knowledge Graphs. IJSRST.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>
                <a:solidFill>
                  <a:srgbClr val="0070C0"/>
                </a:solidFill>
              </a:rPr>
              <a:t>https://www.ijsrst.com/index.php/home/article/view/IJSRST251222689</a:t>
            </a:r>
          </a:p>
          <a:p>
            <a:pPr marL="12700" marR="5080" indent="265430">
              <a:lnSpc>
                <a:spcPts val="1730"/>
              </a:lnSpc>
              <a:spcBef>
                <a:spcPts val="215"/>
              </a:spcBef>
              <a:buAutoNum type="arabicPlain"/>
              <a:tabLst>
                <a:tab pos="278130" algn="l"/>
              </a:tabLst>
            </a:pPr>
            <a:endParaRPr lang="en-US" altLang="en-US" spc="-10" dirty="0">
              <a:solidFill>
                <a:srgbClr val="0070C0"/>
              </a:solidFill>
            </a:endParaRP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[6] ResearchGate. Multilingual Chatbot for Indian Languages. 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>
                <a:solidFill>
                  <a:srgbClr val="0070C0"/>
                </a:solidFill>
              </a:rPr>
              <a:t>https://www.researchgate.net/publication/375558397_MULTILINGUAL_CHATBOT_FOR_INDIAN_LANGUAGES</a:t>
            </a:r>
          </a:p>
          <a:p>
            <a:pPr marL="12700" marR="5080" indent="265430">
              <a:lnSpc>
                <a:spcPts val="1730"/>
              </a:lnSpc>
              <a:spcBef>
                <a:spcPts val="215"/>
              </a:spcBef>
              <a:buAutoNum type="arabicPlain"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[7] ResearchGate. Implementation of Multilingual Chatbot. 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>
                <a:solidFill>
                  <a:srgbClr val="0070C0"/>
                </a:solidFill>
              </a:rPr>
              <a:t>https://www.researchgate.net/publication/353334652_Implementation_of_Multilingual_Chatbot</a:t>
            </a: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/>
              <a:t>[8] IJSRST. ChatSense: A Multilingual AI Assistant. </a:t>
            </a:r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endParaRPr lang="en-US" altLang="en-US" spc="-10" dirty="0"/>
          </a:p>
          <a:p>
            <a:pPr marL="12700" marR="5080" indent="0">
              <a:lnSpc>
                <a:spcPts val="1730"/>
              </a:lnSpc>
              <a:spcBef>
                <a:spcPts val="215"/>
              </a:spcBef>
              <a:buNone/>
              <a:tabLst>
                <a:tab pos="278130" algn="l"/>
              </a:tabLst>
            </a:pPr>
            <a:r>
              <a:rPr lang="en-US" altLang="en-US" spc="-10" dirty="0">
                <a:solidFill>
                  <a:srgbClr val="0070C0"/>
                </a:solidFill>
              </a:rPr>
              <a:t>https://ijsrst.com/index.php/home/article/view/IJSRST251222689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225" y="1438275"/>
            <a:ext cx="3886200" cy="39338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6*142"/>
  <p:tag name="TABLE_ENDDRAG_RECT" val="43*214*426*1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898</Words>
  <Application>Microsoft Office PowerPoint</Application>
  <PresentationFormat>Widescreen</PresentationFormat>
  <Paragraphs>135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MT</vt:lpstr>
      <vt:lpstr>Calibri</vt:lpstr>
      <vt:lpstr>Cambria</vt:lpstr>
      <vt:lpstr>Verdana</vt:lpstr>
      <vt:lpstr>Wingdings</vt:lpstr>
      <vt:lpstr>Office Theme</vt:lpstr>
      <vt:lpstr>Smart Multilingual Chatbot for PGRKAM Platform</vt:lpstr>
      <vt:lpstr>Content</vt:lpstr>
      <vt:lpstr>Problem Statement:</vt:lpstr>
      <vt:lpstr>Objectives</vt:lpstr>
      <vt:lpstr>Background and Related Work</vt:lpstr>
      <vt:lpstr>Technology Stack Components</vt:lpstr>
      <vt:lpstr>Problem Statements</vt:lpstr>
      <vt:lpstr>Proposed Methodology</vt:lpstr>
      <vt:lpstr>Innovation or Novel Contributions</vt:lpstr>
      <vt:lpstr>Timeline of the Project (Gantt Chart)</vt:lpstr>
      <vt:lpstr>Future Plans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 teja</dc:creator>
  <cp:lastModifiedBy>ADMIN</cp:lastModifiedBy>
  <cp:revision>20</cp:revision>
  <dcterms:created xsi:type="dcterms:W3CDTF">2025-09-07T08:02:00Z</dcterms:created>
  <dcterms:modified xsi:type="dcterms:W3CDTF">2025-12-04T09:52:14Z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2025-08-13T11:00:00Z</vt:filetime>
  </property>
  <property fmtid="{D5CDD505-2E9C-101B-9397-08002B2CF9AE}" pid="3" name="LastSaved">
    <vt:filetime>2025-09-07T11:00:00Z</vt:filetime>
  </property>
  <property fmtid="{D5CDD505-2E9C-101B-9397-08002B2CF9AE}" pid="4" name="ICV">
    <vt:lpwstr>95BE4CF536784C74B566327416982A4F_13</vt:lpwstr>
  </property>
  <property fmtid="{D5CDD505-2E9C-101B-9397-08002B2CF9AE}" pid="5" name="KSOProductBuildVer">
    <vt:lpwstr>1033-12.2.0.21931</vt:lpwstr>
  </property>
</Properties>
</file>